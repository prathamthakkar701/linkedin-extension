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15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3366"/>
                </a:solidFill>
              </a:rPr>
              <a:t>LinkedIn Enrichment Extension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017515"/>
            <a:ext cx="7315200" cy="166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Team Members: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Pratham Thakkar</a:t>
            </a:r>
            <a:endParaRPr lang="en-US" sz="1800" dirty="0"/>
          </a:p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</a:rPr>
              <a:t>Abhinanda Chaudhury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Abhinav Bangar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Background &amp;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</a:rPr>
              <a:t>Manual Data Entry is Inefficient
</a:t>
            </a:r>
            <a:r>
              <a:rPr lang="en-US" sz="1400" dirty="0">
                <a:solidFill>
                  <a:srgbClr val="000000"/>
                </a:solidFill>
              </a:rPr>
              <a:t>Recruiters and HR teams currently spend hours manually copying candidate details (names, locations, experiences) from LinkedIn into their CRM systems.
</a:t>
            </a:r>
            <a:r>
              <a:rPr lang="en-US" sz="1800" b="1" dirty="0">
                <a:solidFill>
                  <a:srgbClr val="003366"/>
                </a:solidFill>
              </a:rPr>
              <a:t>Platform Restrictions &amp; Obfuscation
</a:t>
            </a:r>
            <a:r>
              <a:rPr lang="en-US" sz="1400" dirty="0">
                <a:solidFill>
                  <a:srgbClr val="000000"/>
                </a:solidFill>
              </a:rPr>
              <a:t>LinkedIn actively discourages scraping by utilizing heavily obfuscated DOM structures (randomized class names) and strict rate limits, making traditional web scrapers obsolete.
</a:t>
            </a:r>
            <a:r>
              <a:rPr lang="en-US" sz="1800" b="1" dirty="0">
                <a:solidFill>
                  <a:srgbClr val="003366"/>
                </a:solidFill>
              </a:rPr>
              <a:t>The Need for an Integrated Solution
</a:t>
            </a:r>
            <a:r>
              <a:rPr lang="en-US" sz="1400" dirty="0">
                <a:solidFill>
                  <a:srgbClr val="000000"/>
                </a:solidFill>
              </a:rPr>
              <a:t>There is a pressing need for a tool that lives inside the browser to extract data dynamically while respecting platform limits, paired with a central database to manage that data.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Solution &amp;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8331"/>
            <a:ext cx="8229600" cy="3706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</a:rPr>
              <a:t>Two-Part Architecture
</a:t>
            </a:r>
            <a:r>
              <a:rPr lang="en-US" sz="1400" dirty="0">
                <a:solidFill>
                  <a:srgbClr val="000000"/>
                </a:solidFill>
              </a:rPr>
              <a:t>Our solution bridges the gap between the browser and a central candidate database.
</a:t>
            </a:r>
            <a:r>
              <a:rPr lang="en-US" sz="1600" b="1" dirty="0">
                <a:solidFill>
                  <a:srgbClr val="333333"/>
                </a:solidFill>
              </a:rPr>
              <a:t>1. Chrome Extension (Frontend Data Extractor)</a:t>
            </a:r>
            <a:endParaRPr lang="en-US" sz="1800" dirty="0"/>
          </a:p>
          <a:p>
            <a:pPr lvl="1">
              <a:buSzPct val="100000"/>
            </a:pPr>
            <a:r>
              <a:rPr lang="en-US" sz="1400" dirty="0">
                <a:solidFill>
                  <a:srgbClr val="000000"/>
                </a:solidFill>
              </a:rPr>
              <a:t>Injects directly into LinkedIn pages to read the active DOM, bypassing traditional network blocks. It securely packages data and sends it to our custom API.</a:t>
            </a:r>
          </a:p>
          <a:p>
            <a:pPr lvl="1">
              <a:buSzPct val="100000"/>
            </a:pPr>
            <a:endParaRPr lang="en-US" sz="1400" dirty="0">
              <a:solidFill>
                <a:srgbClr val="000000"/>
              </a:solidFill>
            </a:endParaRPr>
          </a:p>
          <a:p>
            <a:pPr>
              <a:buSzPct val="100000"/>
            </a:pPr>
            <a:r>
              <a:rPr lang="en-US" sz="1600" b="1" dirty="0">
                <a:solidFill>
                  <a:srgbClr val="333333"/>
                </a:solidFill>
              </a:rPr>
              <a:t>2. Express/Node.js API (Backend Server)</a:t>
            </a:r>
          </a:p>
          <a:p>
            <a:pPr lvl="1">
              <a:buSzPct val="100000"/>
            </a:pPr>
            <a:r>
              <a:rPr lang="en-US" sz="1400" dirty="0">
                <a:solidFill>
                  <a:srgbClr val="000000"/>
                </a:solidFill>
              </a:rPr>
              <a:t>A RESTful API that receives the extracted candidate JSON data, normalizes it, and securely stores it in our database for future management and viewing.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Progress: Frontend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</a:rPr>
              <a:t>Structural DOM Parsing Algorithms
</a:t>
            </a:r>
            <a:r>
              <a:rPr lang="en-US" sz="1400" dirty="0">
                <a:solidFill>
                  <a:srgbClr val="000000"/>
                </a:solidFill>
              </a:rPr>
              <a:t>We successfully engineered a scraper that ignores randomized class names. Instead, it uses structural landmarks (like profile anchor tags) to extract correct data reliably.
</a:t>
            </a:r>
            <a:r>
              <a:rPr lang="en-US" sz="1800" b="1" dirty="0">
                <a:solidFill>
                  <a:srgbClr val="003366"/>
                </a:solidFill>
              </a:rPr>
              <a:t>Auto-Pagination System
</a:t>
            </a:r>
            <a:r>
              <a:rPr lang="en-US" sz="1400" dirty="0">
                <a:solidFill>
                  <a:srgbClr val="000000"/>
                </a:solidFill>
              </a:rPr>
              <a:t>Implemented an automated script that clicks through search result pages, waits for dynamic content to load, and extracts candidates in bulk.
</a:t>
            </a:r>
            <a:r>
              <a:rPr lang="en-US" sz="1800" b="1" dirty="0">
                <a:solidFill>
                  <a:srgbClr val="003366"/>
                </a:solidFill>
              </a:rPr>
              <a:t>Popup Interface
</a:t>
            </a:r>
            <a:r>
              <a:rPr lang="en-US" sz="1400" dirty="0">
                <a:solidFill>
                  <a:srgbClr val="000000"/>
                </a:solidFill>
              </a:rPr>
              <a:t>Developed a clean extension popup that gives users real-time feedback on extraction progress and allows one-click bulk saving to the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F34F7-C430-5366-0ABA-9A271D8AB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139" y="141064"/>
            <a:ext cx="3170195" cy="4580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DB2834-A6E8-8019-B535-D2C3EFEEF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98" y="141064"/>
            <a:ext cx="3048264" cy="2095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0132CC-E8A0-3F1E-AC6E-00AE373A0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167" y="1897093"/>
            <a:ext cx="2301665" cy="282398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FBF694-529D-25FF-D1CD-079FA6857EEC}"/>
              </a:ext>
            </a:extLst>
          </p:cNvPr>
          <p:cNvSpPr/>
          <p:nvPr/>
        </p:nvSpPr>
        <p:spPr>
          <a:xfrm>
            <a:off x="344658" y="2799471"/>
            <a:ext cx="2152357" cy="14841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Extension UI</a:t>
            </a:r>
          </a:p>
        </p:txBody>
      </p:sp>
    </p:spTree>
    <p:extLst>
      <p:ext uri="{BB962C8B-B14F-4D97-AF65-F5344CB8AC3E}">
        <p14:creationId xmlns:p14="http://schemas.microsoft.com/office/powerpoint/2010/main" val="3169402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Progress: Backend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959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</a:rPr>
              <a:t>REST API Infrastructure
</a:t>
            </a:r>
            <a:r>
              <a:rPr lang="en-US" sz="1400" dirty="0">
                <a:solidFill>
                  <a:srgbClr val="000000"/>
                </a:solidFill>
              </a:rPr>
              <a:t>Built standard endpoints (GET, POST, DELETE) using Express.js to handle incoming candidate data securely with API Key authentication.
</a:t>
            </a:r>
            <a:r>
              <a:rPr lang="en-US" sz="1800" b="1" dirty="0">
                <a:solidFill>
                  <a:srgbClr val="003366"/>
                </a:solidFill>
              </a:rPr>
              <a:t>Data Normalization &amp; Storage
</a:t>
            </a:r>
            <a:r>
              <a:rPr lang="en-US" sz="1400" dirty="0">
                <a:solidFill>
                  <a:srgbClr val="000000"/>
                </a:solidFill>
              </a:rPr>
              <a:t>Created logic to merge new extractions with existing database records to prevent duplicates and ensure data integrity.
</a:t>
            </a:r>
            <a:r>
              <a:rPr lang="en-US" sz="1800" b="1" dirty="0">
                <a:solidFill>
                  <a:srgbClr val="003366"/>
                </a:solidFill>
              </a:rPr>
              <a:t>Web Dashboard
</a:t>
            </a:r>
            <a:r>
              <a:rPr lang="en-US" sz="1400" dirty="0">
                <a:solidFill>
                  <a:srgbClr val="000000"/>
                </a:solidFill>
              </a:rPr>
              <a:t>Designed a responsive frontend dashboard connected to the API where users can view saved candidates in a table format and manage their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76CF09-00DE-ABF4-EAD9-5AD8A0FB2EE3}"/>
              </a:ext>
            </a:extLst>
          </p:cNvPr>
          <p:cNvSpPr/>
          <p:nvPr/>
        </p:nvSpPr>
        <p:spPr>
          <a:xfrm>
            <a:off x="182880" y="133643"/>
            <a:ext cx="8799342" cy="48814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D868C2-26AF-B22B-1FBA-3FF4E4AE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8" y="413742"/>
            <a:ext cx="8060788" cy="43160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C12F8A-02D0-9B54-401E-77BE0AD1316E}"/>
              </a:ext>
            </a:extLst>
          </p:cNvPr>
          <p:cNvSpPr/>
          <p:nvPr/>
        </p:nvSpPr>
        <p:spPr>
          <a:xfrm>
            <a:off x="2497015" y="3833446"/>
            <a:ext cx="3953022" cy="60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Dashboard UI</a:t>
            </a:r>
          </a:p>
        </p:txBody>
      </p:sp>
    </p:spTree>
    <p:extLst>
      <p:ext uri="{BB962C8B-B14F-4D97-AF65-F5344CB8AC3E}">
        <p14:creationId xmlns:p14="http://schemas.microsoft.com/office/powerpoint/2010/main" val="92661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69742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366"/>
                </a:solidFill>
              </a:rPr>
              <a:t>API-Based Data Enrichment
</a:t>
            </a:r>
            <a:r>
              <a:rPr lang="en-US" sz="1400" dirty="0">
                <a:solidFill>
                  <a:srgbClr val="000000"/>
                </a:solidFill>
              </a:rPr>
              <a:t>Transitioning to a backend-driven model. Instead of relying purely on Chrome extraction (which risks bans at scale), the system will use third-party APIs (like Proxycurl) to fetch perfect data via URLs.
</a:t>
            </a:r>
            <a:r>
              <a:rPr lang="en-US" sz="1800" b="1" dirty="0">
                <a:solidFill>
                  <a:srgbClr val="003366"/>
                </a:solidFill>
              </a:rPr>
              <a:t>Cloud Database Migration
</a:t>
            </a:r>
            <a:r>
              <a:rPr lang="en-US" sz="1400" dirty="0">
                <a:solidFill>
                  <a:srgbClr val="000000"/>
                </a:solidFill>
              </a:rPr>
              <a:t>Moving the local JSON database to a scalable cloud solution such as MongoDB or PostgreSQL.
</a:t>
            </a:r>
            <a:r>
              <a:rPr lang="en-US" sz="1800" b="1" dirty="0">
                <a:solidFill>
                  <a:srgbClr val="003366"/>
                </a:solidFill>
              </a:rPr>
              <a:t>Production Deployment
</a:t>
            </a:r>
            <a:r>
              <a:rPr lang="en-US" sz="1400" dirty="0">
                <a:solidFill>
                  <a:srgbClr val="000000"/>
                </a:solidFill>
              </a:rPr>
              <a:t>Deploying the Node.js backend to a production environment (Vercel/AWS) so the extension can be distributed to end-users.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D268D1-5D37-4BF1-5A62-3ADC7BB5DA54}"/>
              </a:ext>
            </a:extLst>
          </p:cNvPr>
          <p:cNvSpPr txBox="1"/>
          <p:nvPr/>
        </p:nvSpPr>
        <p:spPr>
          <a:xfrm>
            <a:off x="2286000" y="2217807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3366"/>
                </a:solidFill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34954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512</Words>
  <Application>Microsoft Office PowerPoint</Application>
  <PresentationFormat>On-screen Show (16:9)</PresentationFormat>
  <Paragraphs>28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Bangar</cp:lastModifiedBy>
  <cp:revision>3</cp:revision>
  <dcterms:created xsi:type="dcterms:W3CDTF">2026-06-15T17:51:37Z</dcterms:created>
  <dcterms:modified xsi:type="dcterms:W3CDTF">2026-06-16T08:44:15Z</dcterms:modified>
</cp:coreProperties>
</file>